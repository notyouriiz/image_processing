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entury Gothic Paneuropean Bold" charset="1" panose="020B0702020202020204"/>
      <p:regular r:id="rId35"/>
    </p:embeddedFont>
    <p:embeddedFont>
      <p:font typeface="Century Gothic Paneuropean" charset="1" panose="020B0502020202020204"/>
      <p:regular r:id="rId36"/>
    </p:embeddedFont>
    <p:embeddedFont>
      <p:font typeface="Open Sans" charset="1" panose="020B0606030504020204"/>
      <p:regular r:id="rId37"/>
    </p:embeddedFont>
    <p:embeddedFont>
      <p:font typeface="Open Sans Bold" charset="1" panose="020B0806030504020204"/>
      <p:regular r:id="rId38"/>
    </p:embeddedFont>
    <p:embeddedFont>
      <p:font typeface="Akzidenz-Grotesk Bold" charset="1" panose="02000803050000020004"/>
      <p:regular r:id="rId39"/>
    </p:embeddedFont>
    <p:embeddedFont>
      <p:font typeface="Aileron Bold" charset="1" panose="00000800000000000000"/>
      <p:regular r:id="rId40"/>
    </p:embeddedFont>
    <p:embeddedFont>
      <p:font typeface="Aileron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3345002"/>
            <a:ext cx="13018493" cy="16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IMAGE 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82925" y="5559892"/>
            <a:ext cx="8522150" cy="214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PIXEL and Morphological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693058"/>
            <a:ext cx="8537178" cy="138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PIXEL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6614" y="4093645"/>
            <a:ext cx="12454772" cy="502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Citra digital merupakan representasi visual yang tersusun dari elemen terkecil yang disebut pixel (picture element).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Pixel adalah unit dasar dalam citra digital, yang menyimpan informasi intensitas cahaya atau warna pada lokasi tertentu.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Pemahaman konsep pixel sangat penting sebagai dasar untuk memahami operasi pengolahan citra.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PIXEL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2406" y="3560130"/>
            <a:ext cx="12026612" cy="56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Pixel: elemen terkecil dari sebuah citra digital.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Setiap pixel memiliki: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Posisi: ditentukan oleh koordinat (x, y).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Nilai intensitas: mewakili kecerahan atau warna.</a:t>
            </a:r>
          </a:p>
          <a:p>
            <a:pPr algn="l" marL="2357796" indent="-589449" lvl="3">
              <a:lnSpc>
                <a:spcPts val="5096"/>
              </a:lnSpc>
              <a:buFont typeface="Arial"/>
              <a:buChar char="￭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Citra grayscale → intensitas 0 (hitam) hingga 255 (putih).</a:t>
            </a:r>
          </a:p>
          <a:p>
            <a:pPr algn="l" marL="2357796" indent="-589449" lvl="3">
              <a:lnSpc>
                <a:spcPts val="5096"/>
              </a:lnSpc>
              <a:buFont typeface="Arial"/>
              <a:buChar char="￭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Citra berwarna (RGB) → kombinasi tiga nilai (Red, Green, Blue).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814615"/>
            <a:ext cx="8537178" cy="13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RESOLUSI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8904" y="4086777"/>
            <a:ext cx="12130193" cy="378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Resolusi menyatakan jumlah pixel yang membentuk citra (width × height).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Contoh: 1920 × 1080 = 2.073.600 pixel.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Semakin tinggi resolusi → semakin detail citra.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Trade-off: resolusi tinggi = kualitas tinggi tapi ukuran file lebih besar.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844" y="1592591"/>
            <a:ext cx="11248533" cy="13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REPRESENTASI PIXEL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05355" y="3686442"/>
            <a:ext cx="13480715" cy="4440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Grayscale image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Disimpan sebagai matriks 2D dengan nilai 0–255.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Contoh: pixel(10, 15) = 200 → cukup terang.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RGB image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Disimpan sebagai matriks 3D (lebar × tinggi × 3).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Pixel(x, y) = (R, G, B).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Contoh: (255, 0, 0) → merah murni.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0343" y="1690069"/>
            <a:ext cx="8537178" cy="13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BIT DEPTH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37727" y="3540866"/>
            <a:ext cx="13403317" cy="378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Menentukan jumlah variasi intensitas yang dapat direpresentasikan.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8-bit → 256 tingkat keabuan (0–255).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24-bit (RGB 8 bit per kanal) → 16,7 juta warna.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Semakin tinggi bit depth → semakin halus gradasi warna.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PIXEL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32445" y="4086777"/>
            <a:ext cx="12823110" cy="319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[100, 120, 130] → grayscale (abu-abu terang)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(255, 0, 0) → merah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(0, 255, 0) → hijau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(0, 0, 255) → biru</a:t>
            </a:r>
          </a:p>
          <a:p>
            <a:pPr algn="ctr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92928" y="3347703"/>
            <a:ext cx="14360223" cy="102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METODE KONVERSI RGB → GRAYSCALE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20653" y="616576"/>
            <a:ext cx="8537178" cy="209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AVERAGE METHOD (RATA-RATA)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0434" y="3422971"/>
            <a:ext cx="13964520" cy="44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Ambil rata-rata dari tiga kanal (R, G, B).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</a:t>
            </a: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Gray=(R+G+B)/3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Sederhana, cepat.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Kekurangan: tidak mempertimbangkan sensitivitas mata manusia terhadap warna.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20653" y="616576"/>
            <a:ext cx="8537178" cy="209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LUMINOSITY METHOD (PERSEPSI VISUAL)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7646" y="3378758"/>
            <a:ext cx="13964520" cy="626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Menggunakan pe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mbobotan berbeda untuk R, G, B sesuai sensitivitas mata manusia.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Mata manusia lebih sensitif terhadap hijau, lalu merah, dan paling sedikit biru.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Rumus (standar ITU-R BT.601):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</a:t>
            </a: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Gray=0.299R+0.587G+0.114B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Metode paling umum digunakan di banyak library (OpenCV, PIL, MATLAB).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20653" y="616576"/>
            <a:ext cx="8537178" cy="209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LIGHTNESS METHOD (METODE KECERAHAN)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7646" y="3378758"/>
            <a:ext cx="13964520" cy="416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mbil nilai rata-rata dari pixel maksimum dan minimum.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</a:t>
            </a: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Gray=max(R,G,B)+min⁡(R,G,B) / 2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Memberikan hasil kontras yang lebih tinggi dibanding rata-rata biasa.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20653" y="616576"/>
            <a:ext cx="8537178" cy="209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SINGLE CHANNEL EXTRACTION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7646" y="3378758"/>
            <a:ext cx="13964520" cy="416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mbil hanya salah satu kanal (misalnya hanya R, hanya G, atau h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B)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dak represe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tatif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tapi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berguna untuk analisis tertentu (misalnya memeriksa detail pada kanal biru saja).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20653" y="616576"/>
            <a:ext cx="8537178" cy="209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CUSTOM WEIGHTED METHOD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7646" y="3378758"/>
            <a:ext cx="13964520" cy="346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mbobotan bisa disesuaikan sesuai kebutuhan aplikasi.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Misal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visi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kompu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 untuk citra medis, bobot tertentu bisa lebih efektif daripada standar.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69057" y="185374"/>
            <a:ext cx="14188637" cy="9736952"/>
          </a:xfrm>
          <a:custGeom>
            <a:avLst/>
            <a:gdLst/>
            <a:ahLst/>
            <a:cxnLst/>
            <a:rect r="r" b="b" t="t" l="l"/>
            <a:pathLst>
              <a:path h="9736952" w="14188637">
                <a:moveTo>
                  <a:pt x="0" y="0"/>
                </a:moveTo>
                <a:lnTo>
                  <a:pt x="14188637" y="0"/>
                </a:lnTo>
                <a:lnTo>
                  <a:pt x="14188637" y="9736952"/>
                </a:lnTo>
                <a:lnTo>
                  <a:pt x="0" y="9736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5339" y="2754181"/>
            <a:ext cx="15617322" cy="259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b="true" sz="13599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Image Morphology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0413" y="5046606"/>
            <a:ext cx="8427173" cy="144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Dilation &amp; Erosion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87843" y="6415667"/>
            <a:ext cx="1312314" cy="58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Shinta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740" y="2057400"/>
            <a:ext cx="17288367" cy="4277161"/>
            <a:chOff x="0" y="0"/>
            <a:chExt cx="4553315" cy="11264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3315" cy="1126495"/>
            </a:xfrm>
            <a:custGeom>
              <a:avLst/>
              <a:gdLst/>
              <a:ahLst/>
              <a:cxnLst/>
              <a:rect r="r" b="b" t="t" l="l"/>
              <a:pathLst>
                <a:path h="1126495" w="4553315">
                  <a:moveTo>
                    <a:pt x="22838" y="0"/>
                  </a:moveTo>
                  <a:lnTo>
                    <a:pt x="4530476" y="0"/>
                  </a:lnTo>
                  <a:cubicBezTo>
                    <a:pt x="4543090" y="0"/>
                    <a:pt x="4553315" y="10225"/>
                    <a:pt x="4553315" y="22838"/>
                  </a:cubicBezTo>
                  <a:lnTo>
                    <a:pt x="4553315" y="1103657"/>
                  </a:lnTo>
                  <a:cubicBezTo>
                    <a:pt x="4553315" y="1109714"/>
                    <a:pt x="4550909" y="1115523"/>
                    <a:pt x="4546626" y="1119806"/>
                  </a:cubicBezTo>
                  <a:cubicBezTo>
                    <a:pt x="4542343" y="1124089"/>
                    <a:pt x="4536534" y="1126495"/>
                    <a:pt x="4530476" y="1126495"/>
                  </a:cubicBezTo>
                  <a:lnTo>
                    <a:pt x="22838" y="1126495"/>
                  </a:lnTo>
                  <a:cubicBezTo>
                    <a:pt x="10225" y="1126495"/>
                    <a:pt x="0" y="1116270"/>
                    <a:pt x="0" y="1103657"/>
                  </a:cubicBezTo>
                  <a:lnTo>
                    <a:pt x="0" y="22838"/>
                  </a:lnTo>
                  <a:cubicBezTo>
                    <a:pt x="0" y="16781"/>
                    <a:pt x="2406" y="10972"/>
                    <a:pt x="6689" y="6689"/>
                  </a:cubicBezTo>
                  <a:cubicBezTo>
                    <a:pt x="10972" y="2406"/>
                    <a:pt x="16781" y="0"/>
                    <a:pt x="228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53315" cy="1164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38447" y="2880185"/>
            <a:ext cx="16328027" cy="295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Image morphology is a technique that processes images based on the shape of objects within them.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The two most fundamental morphological operations are 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erosi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on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and 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dilation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.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They both work by using a small matrix called a 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Structuring Element (SE)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or kernel, which "sweeps" across the entire image.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3599" y="306732"/>
            <a:ext cx="6663468" cy="173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28"/>
              </a:lnSpc>
            </a:pPr>
            <a:r>
              <a:rPr lang="en-US" b="true" sz="9091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Morphology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9817" y="6757147"/>
            <a:ext cx="17288367" cy="4277161"/>
            <a:chOff x="0" y="0"/>
            <a:chExt cx="4553315" cy="11264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53315" cy="1126495"/>
            </a:xfrm>
            <a:custGeom>
              <a:avLst/>
              <a:gdLst/>
              <a:ahLst/>
              <a:cxnLst/>
              <a:rect r="r" b="b" t="t" l="l"/>
              <a:pathLst>
                <a:path h="1126495" w="4553315">
                  <a:moveTo>
                    <a:pt x="22838" y="0"/>
                  </a:moveTo>
                  <a:lnTo>
                    <a:pt x="4530476" y="0"/>
                  </a:lnTo>
                  <a:cubicBezTo>
                    <a:pt x="4543090" y="0"/>
                    <a:pt x="4553315" y="10225"/>
                    <a:pt x="4553315" y="22838"/>
                  </a:cubicBezTo>
                  <a:lnTo>
                    <a:pt x="4553315" y="1103657"/>
                  </a:lnTo>
                  <a:cubicBezTo>
                    <a:pt x="4553315" y="1109714"/>
                    <a:pt x="4550909" y="1115523"/>
                    <a:pt x="4546626" y="1119806"/>
                  </a:cubicBezTo>
                  <a:cubicBezTo>
                    <a:pt x="4542343" y="1124089"/>
                    <a:pt x="4536534" y="1126495"/>
                    <a:pt x="4530476" y="1126495"/>
                  </a:cubicBezTo>
                  <a:lnTo>
                    <a:pt x="22838" y="1126495"/>
                  </a:lnTo>
                  <a:cubicBezTo>
                    <a:pt x="10225" y="1126495"/>
                    <a:pt x="0" y="1116270"/>
                    <a:pt x="0" y="1103657"/>
                  </a:cubicBezTo>
                  <a:lnTo>
                    <a:pt x="0" y="22838"/>
                  </a:lnTo>
                  <a:cubicBezTo>
                    <a:pt x="0" y="16781"/>
                    <a:pt x="2406" y="10972"/>
                    <a:pt x="6689" y="6689"/>
                  </a:cubicBezTo>
                  <a:cubicBezTo>
                    <a:pt x="10972" y="2406"/>
                    <a:pt x="16781" y="0"/>
                    <a:pt x="228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53315" cy="1164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10142" y="7191811"/>
            <a:ext cx="16656331" cy="255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structuring element (SE) (a small shape like a square, circle, or line) is use to probe and transform an image.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Input      : usually a binary image (foreground = white = 1, background = black = 0).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SE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     :  </a:t>
            </a:r>
            <a:r>
              <a:rPr lang="en-US" b="true" sz="29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defines neighborhood connectivity and size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Output  : transformed image highlighting certain </a:t>
            </a:r>
            <a:r>
              <a:rPr lang="en-US" b="true" sz="29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structural features.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555652"/>
            <a:ext cx="6707195" cy="3322059"/>
          </a:xfrm>
          <a:custGeom>
            <a:avLst/>
            <a:gdLst/>
            <a:ahLst/>
            <a:cxnLst/>
            <a:rect r="r" b="b" t="t" l="l"/>
            <a:pathLst>
              <a:path h="3322059" w="6707195">
                <a:moveTo>
                  <a:pt x="0" y="0"/>
                </a:moveTo>
                <a:lnTo>
                  <a:pt x="6707195" y="0"/>
                </a:lnTo>
                <a:lnTo>
                  <a:pt x="6707195" y="3322059"/>
                </a:lnTo>
                <a:lnTo>
                  <a:pt x="0" y="332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2530" y="6927335"/>
            <a:ext cx="9975470" cy="2578693"/>
          </a:xfrm>
          <a:custGeom>
            <a:avLst/>
            <a:gdLst/>
            <a:ahLst/>
            <a:cxnLst/>
            <a:rect r="r" b="b" t="t" l="l"/>
            <a:pathLst>
              <a:path h="2578693" w="9975470">
                <a:moveTo>
                  <a:pt x="0" y="0"/>
                </a:moveTo>
                <a:lnTo>
                  <a:pt x="9975470" y="0"/>
                </a:lnTo>
                <a:lnTo>
                  <a:pt x="9975470" y="2578693"/>
                </a:lnTo>
                <a:lnTo>
                  <a:pt x="0" y="2578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2135" y="521303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neighborhood connectivity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9373" y="2846873"/>
            <a:ext cx="13493604" cy="11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In digital images, "connectivity" tells us which pixels are c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si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dere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d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ne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ghb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rs. This d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p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ds on how we define adjacency: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137" y="4504415"/>
            <a:ext cx="6746802" cy="205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4-connectivity 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(orthogonal neighbors):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Each pixel is connected only to its up, down, left, right neighbors.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392554" y="4389353"/>
            <a:ext cx="8592209" cy="21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8-connectivity</a:t>
            </a:r>
            <a:r>
              <a:rPr lang="en-US" sz="3000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(diagonal included):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Each pixel is connected to all 8 surrounding pixels (including diagonals).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54847" y="4699334"/>
            <a:ext cx="9230350" cy="1543050"/>
            <a:chOff x="0" y="0"/>
            <a:chExt cx="243103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1039" cy="406400"/>
            </a:xfrm>
            <a:custGeom>
              <a:avLst/>
              <a:gdLst/>
              <a:ahLst/>
              <a:cxnLst/>
              <a:rect r="r" b="b" t="t" l="l"/>
              <a:pathLst>
                <a:path h="406400" w="2431039">
                  <a:moveTo>
                    <a:pt x="222783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227839" y="406400"/>
                  </a:lnTo>
                  <a:lnTo>
                    <a:pt x="2431039" y="203200"/>
                  </a:lnTo>
                  <a:lnTo>
                    <a:pt x="2227839" y="0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1673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27064" y="6418674"/>
            <a:ext cx="9230350" cy="1543050"/>
            <a:chOff x="0" y="0"/>
            <a:chExt cx="243103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039" cy="406400"/>
            </a:xfrm>
            <a:custGeom>
              <a:avLst/>
              <a:gdLst/>
              <a:ahLst/>
              <a:cxnLst/>
              <a:rect r="r" b="b" t="t" l="l"/>
              <a:pathLst>
                <a:path h="406400" w="2431039">
                  <a:moveTo>
                    <a:pt x="222783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227839" y="406400"/>
                  </a:lnTo>
                  <a:lnTo>
                    <a:pt x="2431039" y="203200"/>
                  </a:lnTo>
                  <a:lnTo>
                    <a:pt x="2227839" y="0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1673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8946088" y="4597157"/>
            <a:ext cx="10227610" cy="1543050"/>
            <a:chOff x="0" y="0"/>
            <a:chExt cx="269369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93692" cy="406400"/>
            </a:xfrm>
            <a:custGeom>
              <a:avLst/>
              <a:gdLst/>
              <a:ahLst/>
              <a:cxnLst/>
              <a:rect r="r" b="b" t="t" l="l"/>
              <a:pathLst>
                <a:path h="406400" w="2693692">
                  <a:moveTo>
                    <a:pt x="249049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490492" y="406400"/>
                  </a:lnTo>
                  <a:lnTo>
                    <a:pt x="2693692" y="203200"/>
                  </a:lnTo>
                  <a:lnTo>
                    <a:pt x="2490492" y="0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7939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1791" y="6623742"/>
            <a:ext cx="8592209" cy="104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5×5 SE → </a:t>
            </a:r>
            <a:r>
              <a:rPr lang="en-US" b="true" sz="30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checks a larger region, so erosion/d</a:t>
            </a:r>
            <a:r>
              <a:rPr lang="en-US" b="true" sz="30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ilation effects are stronger.</a:t>
            </a: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8946088" y="6418674"/>
            <a:ext cx="10227610" cy="1543050"/>
            <a:chOff x="0" y="0"/>
            <a:chExt cx="269369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93692" cy="406400"/>
            </a:xfrm>
            <a:custGeom>
              <a:avLst/>
              <a:gdLst/>
              <a:ahLst/>
              <a:cxnLst/>
              <a:rect r="r" b="b" t="t" l="l"/>
              <a:pathLst>
                <a:path h="406400" w="2693692">
                  <a:moveTo>
                    <a:pt x="249049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490492" y="406400"/>
                  </a:lnTo>
                  <a:lnTo>
                    <a:pt x="2693692" y="203200"/>
                  </a:lnTo>
                  <a:lnTo>
                    <a:pt x="2490492" y="0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57939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34849" y="2703401"/>
            <a:ext cx="12840736" cy="1543050"/>
            <a:chOff x="0" y="0"/>
            <a:chExt cx="338192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1922" cy="406400"/>
            </a:xfrm>
            <a:custGeom>
              <a:avLst/>
              <a:gdLst/>
              <a:ahLst/>
              <a:cxnLst/>
              <a:rect r="r" b="b" t="t" l="l"/>
              <a:pathLst>
                <a:path h="406400" w="3381922">
                  <a:moveTo>
                    <a:pt x="3178722" y="0"/>
                  </a:moveTo>
                  <a:cubicBezTo>
                    <a:pt x="3290946" y="0"/>
                    <a:pt x="3381922" y="90976"/>
                    <a:pt x="3381922" y="203200"/>
                  </a:cubicBezTo>
                  <a:cubicBezTo>
                    <a:pt x="3381922" y="315424"/>
                    <a:pt x="3290946" y="406400"/>
                    <a:pt x="31787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>
                <a:alpha val="21961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8192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02135" y="521303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Neighborhood Size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08415" y="2847994"/>
            <a:ext cx="13493604" cy="11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The size of the neighborhood is s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et by the dimensions of the structuring element.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1791" y="4936338"/>
            <a:ext cx="6746802" cy="101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3×3 SE → checks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pixels in a small local region.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0909" y="4834162"/>
            <a:ext cx="7172102" cy="101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Disk-shaped SE (radius r) → considers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all pixels within a circular radius.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0909" y="6655678"/>
            <a:ext cx="7880708" cy="101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Larger SE → stronger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modification of the image (more aggressive erosion/dilation).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3186" y="2793738"/>
            <a:ext cx="14499174" cy="3221790"/>
            <a:chOff x="0" y="0"/>
            <a:chExt cx="3818713" cy="84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8713" cy="848537"/>
            </a:xfrm>
            <a:custGeom>
              <a:avLst/>
              <a:gdLst/>
              <a:ahLst/>
              <a:cxnLst/>
              <a:rect r="r" b="b" t="t" l="l"/>
              <a:pathLst>
                <a:path h="848537" w="3818713">
                  <a:moveTo>
                    <a:pt x="27232" y="0"/>
                  </a:moveTo>
                  <a:lnTo>
                    <a:pt x="3791481" y="0"/>
                  </a:lnTo>
                  <a:cubicBezTo>
                    <a:pt x="3798703" y="0"/>
                    <a:pt x="3805630" y="2869"/>
                    <a:pt x="3810737" y="7976"/>
                  </a:cubicBezTo>
                  <a:cubicBezTo>
                    <a:pt x="3815843" y="13083"/>
                    <a:pt x="3818713" y="20009"/>
                    <a:pt x="3818713" y="27232"/>
                  </a:cubicBezTo>
                  <a:lnTo>
                    <a:pt x="3818713" y="821306"/>
                  </a:lnTo>
                  <a:cubicBezTo>
                    <a:pt x="3818713" y="836345"/>
                    <a:pt x="3806521" y="848537"/>
                    <a:pt x="3791481" y="848537"/>
                  </a:cubicBezTo>
                  <a:lnTo>
                    <a:pt x="27232" y="848537"/>
                  </a:lnTo>
                  <a:cubicBezTo>
                    <a:pt x="20009" y="848537"/>
                    <a:pt x="13083" y="845668"/>
                    <a:pt x="7976" y="840561"/>
                  </a:cubicBezTo>
                  <a:cubicBezTo>
                    <a:pt x="2869" y="835455"/>
                    <a:pt x="0" y="828528"/>
                    <a:pt x="0" y="821306"/>
                  </a:cubicBezTo>
                  <a:lnTo>
                    <a:pt x="0" y="27232"/>
                  </a:lnTo>
                  <a:cubicBezTo>
                    <a:pt x="0" y="20009"/>
                    <a:pt x="2869" y="13083"/>
                    <a:pt x="7976" y="7976"/>
                  </a:cubicBezTo>
                  <a:cubicBezTo>
                    <a:pt x="13083" y="2869"/>
                    <a:pt x="20009" y="0"/>
                    <a:pt x="2723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18713" cy="88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2135" y="521303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Connectivity &amp; Size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10572" y="3198421"/>
            <a:ext cx="13493604" cy="297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Connectivity controls which shapes are pre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erved.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4-connectivity → diagonal conn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ect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ions may break apart.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8-connectivity → diagonally touching objects may remain connected.</a:t>
            </a: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1282493" y="6580067"/>
            <a:ext cx="14499174" cy="3221790"/>
            <a:chOff x="0" y="0"/>
            <a:chExt cx="3818713" cy="848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8713" cy="848537"/>
            </a:xfrm>
            <a:custGeom>
              <a:avLst/>
              <a:gdLst/>
              <a:ahLst/>
              <a:cxnLst/>
              <a:rect r="r" b="b" t="t" l="l"/>
              <a:pathLst>
                <a:path h="848537" w="3818713">
                  <a:moveTo>
                    <a:pt x="27232" y="0"/>
                  </a:moveTo>
                  <a:lnTo>
                    <a:pt x="3791481" y="0"/>
                  </a:lnTo>
                  <a:cubicBezTo>
                    <a:pt x="3798703" y="0"/>
                    <a:pt x="3805630" y="2869"/>
                    <a:pt x="3810737" y="7976"/>
                  </a:cubicBezTo>
                  <a:cubicBezTo>
                    <a:pt x="3815843" y="13083"/>
                    <a:pt x="3818713" y="20009"/>
                    <a:pt x="3818713" y="27232"/>
                  </a:cubicBezTo>
                  <a:lnTo>
                    <a:pt x="3818713" y="821306"/>
                  </a:lnTo>
                  <a:cubicBezTo>
                    <a:pt x="3818713" y="836345"/>
                    <a:pt x="3806521" y="848537"/>
                    <a:pt x="3791481" y="848537"/>
                  </a:cubicBezTo>
                  <a:lnTo>
                    <a:pt x="27232" y="848537"/>
                  </a:lnTo>
                  <a:cubicBezTo>
                    <a:pt x="20009" y="848537"/>
                    <a:pt x="13083" y="845668"/>
                    <a:pt x="7976" y="840561"/>
                  </a:cubicBezTo>
                  <a:cubicBezTo>
                    <a:pt x="2869" y="835455"/>
                    <a:pt x="0" y="828528"/>
                    <a:pt x="0" y="821306"/>
                  </a:cubicBezTo>
                  <a:lnTo>
                    <a:pt x="0" y="27232"/>
                  </a:lnTo>
                  <a:cubicBezTo>
                    <a:pt x="0" y="20009"/>
                    <a:pt x="2869" y="13083"/>
                    <a:pt x="7976" y="7976"/>
                  </a:cubicBezTo>
                  <a:cubicBezTo>
                    <a:pt x="13083" y="2869"/>
                    <a:pt x="20009" y="0"/>
                    <a:pt x="2723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8713" cy="88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37419" y="7081281"/>
            <a:ext cx="13493604" cy="297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Size controls the strength of morphological changes.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Small SE (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e.g., 3×3) → only affects fine d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eta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ils.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Large SE (e.g., 15×15) → heavily smooths, erases, or grows objects.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98363" y="1079333"/>
            <a:ext cx="6663468" cy="173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28"/>
              </a:lnSpc>
            </a:pPr>
            <a:r>
              <a:rPr lang="en-US" b="true" sz="9091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Morphology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6900" y="4350584"/>
            <a:ext cx="15692400" cy="295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Image morphology is a technique that processes images based on the shape of objects within them.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The two most fundamental morphological operations are </a:t>
            </a: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erosi</a:t>
            </a: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on</a:t>
            </a: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 and </a:t>
            </a: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dilation</a:t>
            </a: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They both work by using a small matrix called a </a:t>
            </a: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Structuring Element (SE)</a:t>
            </a: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or kernel, which "sweeps" across the entire image.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15242" y="3691064"/>
            <a:ext cx="9857516" cy="2904872"/>
          </a:xfrm>
          <a:custGeom>
            <a:avLst/>
            <a:gdLst/>
            <a:ahLst/>
            <a:cxnLst/>
            <a:rect r="r" b="b" t="t" l="l"/>
            <a:pathLst>
              <a:path h="2904872" w="9857516">
                <a:moveTo>
                  <a:pt x="0" y="0"/>
                </a:moveTo>
                <a:lnTo>
                  <a:pt x="9857516" y="0"/>
                </a:lnTo>
                <a:lnTo>
                  <a:pt x="9857516" y="2904872"/>
                </a:lnTo>
                <a:lnTo>
                  <a:pt x="0" y="2904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2135" y="521303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Erosion and Dilation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2149" y="6472111"/>
            <a:ext cx="3636303" cy="110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</a:t>
            </a:r>
            <a:r>
              <a:rPr lang="en-US" b="true" sz="3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bjek bertambah besar (melebar)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57691" y="2590086"/>
            <a:ext cx="2841401" cy="110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objek terkikis (mengecil).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9" y="3815245"/>
            <a:ext cx="16587202" cy="4035933"/>
            <a:chOff x="0" y="0"/>
            <a:chExt cx="4368646" cy="1062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8646" cy="1062962"/>
            </a:xfrm>
            <a:custGeom>
              <a:avLst/>
              <a:gdLst/>
              <a:ahLst/>
              <a:cxnLst/>
              <a:rect r="r" b="b" t="t" l="l"/>
              <a:pathLst>
                <a:path h="1062962" w="4368646">
                  <a:moveTo>
                    <a:pt x="23804" y="0"/>
                  </a:moveTo>
                  <a:lnTo>
                    <a:pt x="4344842" y="0"/>
                  </a:lnTo>
                  <a:cubicBezTo>
                    <a:pt x="4351155" y="0"/>
                    <a:pt x="4357210" y="2508"/>
                    <a:pt x="4361674" y="6972"/>
                  </a:cubicBezTo>
                  <a:cubicBezTo>
                    <a:pt x="4366138" y="11436"/>
                    <a:pt x="4368646" y="17491"/>
                    <a:pt x="4368646" y="23804"/>
                  </a:cubicBezTo>
                  <a:lnTo>
                    <a:pt x="4368646" y="1039158"/>
                  </a:lnTo>
                  <a:cubicBezTo>
                    <a:pt x="4368646" y="1045471"/>
                    <a:pt x="4366138" y="1051526"/>
                    <a:pt x="4361674" y="1055990"/>
                  </a:cubicBezTo>
                  <a:cubicBezTo>
                    <a:pt x="4357210" y="1060454"/>
                    <a:pt x="4351155" y="1062962"/>
                    <a:pt x="4344842" y="1062962"/>
                  </a:cubicBezTo>
                  <a:lnTo>
                    <a:pt x="23804" y="1062962"/>
                  </a:lnTo>
                  <a:cubicBezTo>
                    <a:pt x="17491" y="1062962"/>
                    <a:pt x="11436" y="1060454"/>
                    <a:pt x="6972" y="1055990"/>
                  </a:cubicBezTo>
                  <a:cubicBezTo>
                    <a:pt x="2508" y="1051526"/>
                    <a:pt x="0" y="1045471"/>
                    <a:pt x="0" y="1039158"/>
                  </a:cubicBezTo>
                  <a:lnTo>
                    <a:pt x="0" y="23804"/>
                  </a:lnTo>
                  <a:cubicBezTo>
                    <a:pt x="0" y="17491"/>
                    <a:pt x="2508" y="11436"/>
                    <a:pt x="6972" y="6972"/>
                  </a:cubicBezTo>
                  <a:cubicBezTo>
                    <a:pt x="11436" y="2508"/>
                    <a:pt x="17491" y="0"/>
                    <a:pt x="23804" y="0"/>
                  </a:cubicBezTo>
                  <a:close/>
                </a:path>
              </a:pathLst>
            </a:custGeom>
            <a:solidFill>
              <a:srgbClr val="C41414">
                <a:alpha val="1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8646" cy="1101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0399" y="4306220"/>
            <a:ext cx="16272447" cy="297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SE adalah pola kecil (array biner) yang digunakan untuk memeriksa dan mengubah piksel dalam sebuah citra/himpunan.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Bentuk SE 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bisa bermacam-macam: kotak, lingkaran, silang, garis, disk, dsb.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SE memiliki sebuah </a:t>
            </a: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pusat (origin) 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yang dipakai sebagai </a:t>
            </a:r>
            <a:r>
              <a:rPr lang="en-US" b="true" sz="3399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titik referensi </a:t>
            </a:r>
            <a:r>
              <a:rPr lang="en-US" b="true" sz="33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ketika digeser ke seluruh citra.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8283" y="1336827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Structuring Element (SE)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9515" y="1622964"/>
            <a:ext cx="8664485" cy="5091303"/>
            <a:chOff x="0" y="0"/>
            <a:chExt cx="2282004" cy="13409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2004" cy="1340919"/>
            </a:xfrm>
            <a:custGeom>
              <a:avLst/>
              <a:gdLst/>
              <a:ahLst/>
              <a:cxnLst/>
              <a:rect r="r" b="b" t="t" l="l"/>
              <a:pathLst>
                <a:path h="1340919" w="2282004">
                  <a:moveTo>
                    <a:pt x="45570" y="0"/>
                  </a:moveTo>
                  <a:lnTo>
                    <a:pt x="2236435" y="0"/>
                  </a:lnTo>
                  <a:cubicBezTo>
                    <a:pt x="2248521" y="0"/>
                    <a:pt x="2260111" y="4801"/>
                    <a:pt x="2268657" y="13347"/>
                  </a:cubicBezTo>
                  <a:cubicBezTo>
                    <a:pt x="2277203" y="21893"/>
                    <a:pt x="2282004" y="33484"/>
                    <a:pt x="2282004" y="45570"/>
                  </a:cubicBezTo>
                  <a:lnTo>
                    <a:pt x="2282004" y="1295350"/>
                  </a:lnTo>
                  <a:cubicBezTo>
                    <a:pt x="2282004" y="1307436"/>
                    <a:pt x="2277203" y="1319026"/>
                    <a:pt x="2268657" y="1327572"/>
                  </a:cubicBezTo>
                  <a:cubicBezTo>
                    <a:pt x="2260111" y="1336118"/>
                    <a:pt x="2248521" y="1340919"/>
                    <a:pt x="2236435" y="1340919"/>
                  </a:cubicBezTo>
                  <a:lnTo>
                    <a:pt x="45570" y="1340919"/>
                  </a:lnTo>
                  <a:cubicBezTo>
                    <a:pt x="33484" y="1340919"/>
                    <a:pt x="21893" y="1336118"/>
                    <a:pt x="13347" y="1327572"/>
                  </a:cubicBezTo>
                  <a:cubicBezTo>
                    <a:pt x="4801" y="1319026"/>
                    <a:pt x="0" y="1307436"/>
                    <a:pt x="0" y="1295350"/>
                  </a:cubicBezTo>
                  <a:lnTo>
                    <a:pt x="0" y="45570"/>
                  </a:lnTo>
                  <a:cubicBezTo>
                    <a:pt x="0" y="33484"/>
                    <a:pt x="4801" y="21893"/>
                    <a:pt x="13347" y="13347"/>
                  </a:cubicBezTo>
                  <a:cubicBezTo>
                    <a:pt x="21893" y="4801"/>
                    <a:pt x="33484" y="0"/>
                    <a:pt x="455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2004" cy="1379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16632" y="-99824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CONTOH 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626" y="1930264"/>
            <a:ext cx="7689148" cy="503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SE kotak</a:t>
            </a:r>
            <a:r>
              <a:rPr lang="en-US" sz="294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3×3 (8-neighborhood)</a:t>
            </a:r>
          </a:p>
          <a:p>
            <a:pPr algn="ctr">
              <a:lnSpc>
                <a:spcPts val="4124"/>
              </a:lnSpc>
            </a:pPr>
          </a:p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1 1 1</a:t>
            </a:r>
          </a:p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1 1 1</a:t>
            </a:r>
          </a:p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1 1 1</a:t>
            </a:r>
          </a:p>
          <a:p>
            <a:pPr algn="ctr">
              <a:lnSpc>
                <a:spcPts val="4124"/>
              </a:lnSpc>
            </a:pPr>
          </a:p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Memperhitungkan semua tetangga, termasuk diagonal.</a:t>
            </a:r>
          </a:p>
          <a:p>
            <a:pPr algn="ctr">
              <a:lnSpc>
                <a:spcPts val="4124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909664" y="1622964"/>
            <a:ext cx="8092188" cy="5091303"/>
            <a:chOff x="0" y="0"/>
            <a:chExt cx="2131276" cy="13409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1276" cy="1340919"/>
            </a:xfrm>
            <a:custGeom>
              <a:avLst/>
              <a:gdLst/>
              <a:ahLst/>
              <a:cxnLst/>
              <a:rect r="r" b="b" t="t" l="l"/>
              <a:pathLst>
                <a:path h="1340919" w="2131276">
                  <a:moveTo>
                    <a:pt x="48792" y="0"/>
                  </a:moveTo>
                  <a:lnTo>
                    <a:pt x="2082483" y="0"/>
                  </a:lnTo>
                  <a:cubicBezTo>
                    <a:pt x="2109431" y="0"/>
                    <a:pt x="2131276" y="21845"/>
                    <a:pt x="2131276" y="48792"/>
                  </a:cubicBezTo>
                  <a:lnTo>
                    <a:pt x="2131276" y="1292127"/>
                  </a:lnTo>
                  <a:cubicBezTo>
                    <a:pt x="2131276" y="1305068"/>
                    <a:pt x="2126135" y="1317478"/>
                    <a:pt x="2116985" y="1326628"/>
                  </a:cubicBezTo>
                  <a:cubicBezTo>
                    <a:pt x="2107834" y="1335779"/>
                    <a:pt x="2095424" y="1340919"/>
                    <a:pt x="2082483" y="1340919"/>
                  </a:cubicBezTo>
                  <a:lnTo>
                    <a:pt x="48792" y="1340919"/>
                  </a:lnTo>
                  <a:cubicBezTo>
                    <a:pt x="21845" y="1340919"/>
                    <a:pt x="0" y="1319074"/>
                    <a:pt x="0" y="1292127"/>
                  </a:cubicBezTo>
                  <a:lnTo>
                    <a:pt x="0" y="48792"/>
                  </a:lnTo>
                  <a:cubicBezTo>
                    <a:pt x="0" y="35852"/>
                    <a:pt x="5141" y="23441"/>
                    <a:pt x="14291" y="14291"/>
                  </a:cubicBezTo>
                  <a:cubicBezTo>
                    <a:pt x="23441" y="5141"/>
                    <a:pt x="35852" y="0"/>
                    <a:pt x="487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31276" cy="1379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391475" y="1939789"/>
            <a:ext cx="7192247" cy="452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SE silang 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(4-neighborhood)</a:t>
            </a:r>
          </a:p>
          <a:p>
            <a:pPr algn="ctr">
              <a:lnSpc>
                <a:spcPts val="4060"/>
              </a:lnSpc>
            </a:pP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      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0 1 0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      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1 1 1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      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0 1 0</a:t>
            </a:r>
          </a:p>
          <a:p>
            <a:pPr algn="ctr">
              <a:lnSpc>
                <a:spcPts val="4060"/>
              </a:lnSpc>
            </a:pP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Hanya memperhitungkan atas, bawah, kiri, kanan.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17429" y="6964758"/>
            <a:ext cx="4997242" cy="2587419"/>
            <a:chOff x="0" y="0"/>
            <a:chExt cx="1316146" cy="6814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6146" cy="681460"/>
            </a:xfrm>
            <a:custGeom>
              <a:avLst/>
              <a:gdLst/>
              <a:ahLst/>
              <a:cxnLst/>
              <a:rect r="r" b="b" t="t" l="l"/>
              <a:pathLst>
                <a:path h="681460" w="1316146">
                  <a:moveTo>
                    <a:pt x="79011" y="0"/>
                  </a:moveTo>
                  <a:lnTo>
                    <a:pt x="1237135" y="0"/>
                  </a:lnTo>
                  <a:cubicBezTo>
                    <a:pt x="1280772" y="0"/>
                    <a:pt x="1316146" y="35375"/>
                    <a:pt x="1316146" y="79011"/>
                  </a:cubicBezTo>
                  <a:lnTo>
                    <a:pt x="1316146" y="602449"/>
                  </a:lnTo>
                  <a:cubicBezTo>
                    <a:pt x="1316146" y="646086"/>
                    <a:pt x="1280772" y="681460"/>
                    <a:pt x="1237135" y="681460"/>
                  </a:cubicBezTo>
                  <a:lnTo>
                    <a:pt x="79011" y="681460"/>
                  </a:lnTo>
                  <a:cubicBezTo>
                    <a:pt x="58056" y="681460"/>
                    <a:pt x="37959" y="673136"/>
                    <a:pt x="23142" y="658318"/>
                  </a:cubicBezTo>
                  <a:cubicBezTo>
                    <a:pt x="8324" y="643501"/>
                    <a:pt x="0" y="623404"/>
                    <a:pt x="0" y="602449"/>
                  </a:cubicBezTo>
                  <a:lnTo>
                    <a:pt x="0" y="79011"/>
                  </a:lnTo>
                  <a:cubicBezTo>
                    <a:pt x="0" y="58056"/>
                    <a:pt x="8324" y="37959"/>
                    <a:pt x="23142" y="23142"/>
                  </a:cubicBezTo>
                  <a:cubicBezTo>
                    <a:pt x="37959" y="8324"/>
                    <a:pt x="58056" y="0"/>
                    <a:pt x="790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16146" cy="719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15278" y="7249130"/>
            <a:ext cx="5675659" cy="25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SE garis horizontal 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(deteksi garis)</a:t>
            </a:r>
          </a:p>
          <a:p>
            <a:pPr algn="ctr">
              <a:lnSpc>
                <a:spcPts val="4060"/>
              </a:lnSpc>
            </a:pP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      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1 1 1 1 1</a:t>
            </a:r>
          </a:p>
          <a:p>
            <a:pPr algn="ctr">
              <a:lnSpc>
                <a:spcPts val="40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376951" y="7839239"/>
            <a:ext cx="10535842" cy="200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Ukuran SE = seberapa luas lingkungan diperiksa.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Bentuk SE = arah atau pola yang dianggap penting (kotak → semua arah, silang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→ 4 arah saja, garis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→ satu arah saja).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4972" y="1477232"/>
            <a:ext cx="9392781" cy="93927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9668" y="100480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Bagaimana SE bekerja?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36716"/>
            <a:ext cx="7192247" cy="535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Pada Erosi (⊖)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Letakkan SE di atas citra dengan pusatnya di piksel target.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Periksa semua posisi 1 di SE → jika semuanya menutupi piksel 1 di citra → hasil di pusat = 1.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Jika ada yang jatuh ke 0 atau keluar area → hasil di pusat = 0.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Efek: objek terkikis (mengecil).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07295" y="1209022"/>
            <a:ext cx="9392781" cy="93927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718693" y="2893642"/>
            <a:ext cx="7192247" cy="594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Pada Dilasi (⊕)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Letakkan SE di atas citra dengan pusatnya di piksel target.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Jika ada satu saja posisi 1 di SE yang menutupi piksel 1 di citra → hasil di pusat = 1.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Jika tidak ada → hasil di pusat = 0.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Efek: objek bertambah besar (melebar).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9668" y="100480"/>
            <a:ext cx="14516283" cy="153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2182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Contoh Kerja 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18806" y="1556870"/>
            <a:ext cx="7192247" cy="355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Misal citra A: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0 1 0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1 1 1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0 1 0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(sebuah cross kecil)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396750" y="5440769"/>
            <a:ext cx="15862550" cy="236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Jika </a:t>
            </a: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SE = kotak 3×3</a:t>
            </a: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dan dipakai untuk erosion: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 butuh semua tetangga 1 → tapi di sini banyak tetangga kosong (0).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Hasilnya: semua habis (jadi kosong).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96750" y="7605735"/>
            <a:ext cx="15862550" cy="236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Jika </a:t>
            </a:r>
            <a:r>
              <a:rPr lang="en-US" sz="3399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SE = silang 3×3</a:t>
            </a: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dan dipakai untuk erosion: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Karena</a:t>
            </a: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cross punya semua tetangga orthogonal = 1, titik pusat bertahan.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Hasilnya: titik tengah tetap 1.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144" y="362589"/>
            <a:ext cx="6078841" cy="6356958"/>
          </a:xfrm>
          <a:custGeom>
            <a:avLst/>
            <a:gdLst/>
            <a:ahLst/>
            <a:cxnLst/>
            <a:rect r="r" b="b" t="t" l="l"/>
            <a:pathLst>
              <a:path h="6356958" w="6078841">
                <a:moveTo>
                  <a:pt x="0" y="0"/>
                </a:moveTo>
                <a:lnTo>
                  <a:pt x="6078841" y="0"/>
                </a:lnTo>
                <a:lnTo>
                  <a:pt x="607884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18578" y="6992107"/>
            <a:ext cx="5803029" cy="2966799"/>
          </a:xfrm>
          <a:custGeom>
            <a:avLst/>
            <a:gdLst/>
            <a:ahLst/>
            <a:cxnLst/>
            <a:rect r="r" b="b" t="t" l="l"/>
            <a:pathLst>
              <a:path h="2966799" w="5803029">
                <a:moveTo>
                  <a:pt x="0" y="0"/>
                </a:moveTo>
                <a:lnTo>
                  <a:pt x="5803029" y="0"/>
                </a:lnTo>
                <a:lnTo>
                  <a:pt x="5803029" y="2966799"/>
                </a:lnTo>
                <a:lnTo>
                  <a:pt x="0" y="2966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11402" y="1043167"/>
            <a:ext cx="8744943" cy="570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</a:t>
            </a:r>
            <a:r>
              <a:rPr lang="en-US" b="true" sz="29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tructuring element (SE) berbentuk silang (cross) digeser ke setiap posisi di citra: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Hitam = citra asli.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Merah transparan = posisi SE saat ini.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Saat SE bergeser, pusatnya “diperiksa”: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jika semua posisi SE (yang bernilai 1) menutupi bagian objek, maka titik pusat di hasil akan menjadi 1, kalau tidak → 0.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36349" y="2219682"/>
            <a:ext cx="8615302" cy="5847636"/>
          </a:xfrm>
          <a:custGeom>
            <a:avLst/>
            <a:gdLst/>
            <a:ahLst/>
            <a:cxnLst/>
            <a:rect r="r" b="b" t="t" l="l"/>
            <a:pathLst>
              <a:path h="5847636" w="8615302">
                <a:moveTo>
                  <a:pt x="0" y="0"/>
                </a:moveTo>
                <a:lnTo>
                  <a:pt x="8615302" y="0"/>
                </a:lnTo>
                <a:lnTo>
                  <a:pt x="8615302" y="5847636"/>
                </a:lnTo>
                <a:lnTo>
                  <a:pt x="0" y="5847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E1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DAGwAbzK2oc</dc:identifier>
  <dcterms:modified xsi:type="dcterms:W3CDTF">2011-08-01T06:04:30Z</dcterms:modified>
  <cp:revision>1</cp:revision>
  <dc:title>Image Processing</dc:title>
</cp:coreProperties>
</file>